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slide12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5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3.xml" ContentType="application/vnd.openxmlformats-officedocument.presentationml.slide+xml"/>
  <Override PartName="/ppt/slides/slide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88825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596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ic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k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o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M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a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st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yl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8480" cy="585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B6B6E58-B18A-481D-80FE-DAF1FE264B5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DF157FE-CEF7-40D4-B86D-2824C62D7EB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0960" cy="13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0960" cy="1498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728E4EE-56FC-4F01-AF61-89869B4DAC54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704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PlaceHolder 5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PlaceHolder 6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47F1A90-6E34-450F-8268-3F09A65061A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884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884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0280" cy="63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0280" cy="3949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6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" name="PlaceHolder 7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8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E76D344-3421-42AE-AE69-3FAE5BA4A3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E9F444C-6E32-41BF-89BB-E95FA853934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 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3BEA5F0-64E8-4B7E-808C-432E378082F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1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 type="title"/>
          </p:nvPr>
        </p:nvSpPr>
        <p:spPr>
          <a:xfrm>
            <a:off x="609120" y="273600"/>
            <a:ext cx="10968480" cy="11437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Titeltextes durch Klicken bearbeiten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 type="body"/>
          </p:nvPr>
        </p:nvSpPr>
        <p:spPr>
          <a:xfrm>
            <a:off x="609120" y="1604520"/>
            <a:ext cx="10968480" cy="3976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6720" cy="1160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0200" cy="5851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6720" cy="4689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6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6A616F5-33F2-4A67-AA1E-4FCCBD8F3381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4960" cy="565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4960" cy="41133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 defTabSz="457200">
              <a:lnSpc>
                <a:spcPct val="100000"/>
              </a:lnSpc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Format des Gliederungstextes durch Klicken bearbeiten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indent="-32400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Zweite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indent="-2880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Dritte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Vierte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indent="-2160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Fünfte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Sechste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Siebte Gliederungsebene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4960" cy="803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9" name="PlaceHolder 4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PlaceHolder 5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PlaceHolder 6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251AB5C-26F5-4EE2-BDC4-CC26A53FFF1B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0960" cy="14684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3" name="PlaceHolder 2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3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PlaceHolder 4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BA03719B-D971-43AF-94C9-D5F6084B7BF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8160" cy="114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8160" cy="452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&lt;Datum/Uhrzeit&gt;</a:t>
            </a:r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404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de-DE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&lt;Fußzeile&gt;</a:t>
            </a:r>
            <a:endParaRPr lang="de-DE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5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2280" cy="363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97053E2-CCC3-49DE-86FC-46A3F18F7293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&lt;Foliennummer&gt;</a:t>
            </a:fld>
            <a:endParaRPr lang="de-DE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7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3.jpeg"/><Relationship Id="rId2" Type="http://schemas.openxmlformats.org/officeDocument/2006/relationships/slideLayout" Target="../slideLayouts/slideLayout7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4.jpeg"/><Relationship Id="rId2" Type="http://schemas.openxmlformats.org/officeDocument/2006/relationships/image" Target="../media/image5.jpeg"/><Relationship Id="rId3" Type="http://schemas.openxmlformats.org/officeDocument/2006/relationships/slideLayout" Target="../slideLayouts/slideLayout7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jpeg"/><Relationship Id="rId2" Type="http://schemas.openxmlformats.org/officeDocument/2006/relationships/slideLayout" Target="../slideLayouts/slideLayout7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1"/>
          <p:cNvSpPr/>
          <p:nvPr/>
        </p:nvSpPr>
        <p:spPr>
          <a:xfrm>
            <a:off x="685800" y="1554480"/>
            <a:ext cx="10971360" cy="1741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46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Fyzické zobrazovanie sietí</a:t>
            </a:r>
            <a:endParaRPr lang="de-DE" sz="4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799"/>
              </a:spcBef>
            </a:pPr>
            <a:r>
              <a:rPr lang="en-US" sz="2400" b="0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Topológie a Physical View v Cisco Packet Tracer</a:t>
            </a:r>
            <a:endParaRPr lang="de-DE" sz="2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2001"/>
              </a:spcBef>
            </a:pP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Box 2"/>
          <p:cNvSpPr/>
          <p:nvPr/>
        </p:nvSpPr>
        <p:spPr>
          <a:xfrm>
            <a:off x="685800" y="4389120"/>
            <a:ext cx="10971360" cy="410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300" b="0" u="none" strike="noStrike">
                <a:solidFill>
                  <a:srgbClr val="777777"/>
                </a:solidFill>
                <a:effectLst/>
                <a:uFillTx/>
                <a:latin typeface="Calibri"/>
              </a:rPr>
              <a:t>Matúš Maštena  |  III.IST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3" name="Rectangle 3"/>
          <p:cNvSpPr/>
          <p:nvPr/>
        </p:nvSpPr>
        <p:spPr>
          <a:xfrm>
            <a:off x="685800" y="5029200"/>
            <a:ext cx="2284560" cy="3528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TextBox 1"/>
          <p:cNvSpPr/>
          <p:nvPr/>
        </p:nvSpPr>
        <p:spPr>
          <a:xfrm>
            <a:off x="685800" y="411480"/>
            <a:ext cx="10788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Plán hodiny</a:t>
            </a:r>
            <a:endParaRPr lang="de-D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5" name="TextBox 2"/>
          <p:cNvSpPr/>
          <p:nvPr/>
        </p:nvSpPr>
        <p:spPr>
          <a:xfrm>
            <a:off x="685800" y="1554480"/>
            <a:ext cx="10788480" cy="2141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A9EDB"/>
              </a:buClr>
              <a:buFont typeface="Symbol" charset="2"/>
              <a:buChar char=""/>
            </a:pP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A9ED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Časť 2 — Physical View (30 min)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Žiaci pracujú samostatne podľa pracovného listu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Učiteľ prechádza krokmi na projektore — žiaci opakujú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A9EDB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Časť 3 — Overenie a diskusia (5 min)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Každý otestuje sieť pingom — ukáže výsledok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Spoločné zhrnutie — čo sme sa naučili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D700"/>
              </a:buClr>
              <a:buFont typeface="OpenSymbol"/>
              <a:buChar char="⏸"/>
            </a:pPr>
            <a:r>
              <a:rPr lang="en-US" sz="15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Žltý banner na snímke = zastavenie, žiaci dokončia </a:t>
            </a:r>
            <a:r>
              <a:rPr lang="en-US" sz="15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krok sami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TextBox 1"/>
          <p:cNvSpPr/>
          <p:nvPr/>
        </p:nvSpPr>
        <p:spPr>
          <a:xfrm>
            <a:off x="685800" y="1280160"/>
            <a:ext cx="1724760" cy="1919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2000" b="1" u="none" strike="noStrike">
                <a:solidFill>
                  <a:srgbClr val="2E2E2E"/>
                </a:solidFill>
                <a:effectLst/>
                <a:uFillTx/>
                <a:latin typeface="Calibri"/>
              </a:rPr>
              <a:t>01</a:t>
            </a:r>
            <a:endParaRPr lang="de-DE" sz="12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TextBox 2"/>
          <p:cNvSpPr/>
          <p:nvPr/>
        </p:nvSpPr>
        <p:spPr>
          <a:xfrm>
            <a:off x="685800" y="3383280"/>
            <a:ext cx="10514160" cy="912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800" b="1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Physical View — krok za krokom</a:t>
            </a:r>
            <a:endParaRPr lang="de-DE" sz="3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8" name="Rectangle 3"/>
          <p:cNvSpPr/>
          <p:nvPr/>
        </p:nvSpPr>
        <p:spPr>
          <a:xfrm>
            <a:off x="685800" y="4343400"/>
            <a:ext cx="10514160" cy="3528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Box 1"/>
          <p:cNvSpPr/>
          <p:nvPr/>
        </p:nvSpPr>
        <p:spPr>
          <a:xfrm>
            <a:off x="685800" y="411480"/>
            <a:ext cx="10788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Physical View — čo to je a kde ho nájsť?</a:t>
            </a:r>
            <a:endParaRPr lang="de-D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0" name="Rectangle 2"/>
          <p:cNvSpPr/>
          <p:nvPr/>
        </p:nvSpPr>
        <p:spPr>
          <a:xfrm>
            <a:off x="685800" y="1078920"/>
            <a:ext cx="10514160" cy="3528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1" name="TextBox 3"/>
          <p:cNvSpPr/>
          <p:nvPr/>
        </p:nvSpPr>
        <p:spPr>
          <a:xfrm>
            <a:off x="685800" y="1508760"/>
            <a:ext cx="10788480" cy="276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Logical View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ikony zariadení na prázdnej ploche — slúži na konfiguráciu, IP, protokoly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Physical View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zariadenia v rackoch, miestnostiach, budovách — ako to vyzerá v reálnej serverovni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Analógia: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Logical View = mapa metra — farebné čiary, žiadne ulice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Physical View = pohľad na skutočné mesto — budovy, ulice, serverovne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Kde ho nájsť: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70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Spodná lišta PT  →  záložka  [Physical]  (vedľa [Logical])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432000" lvl="1" indent="-216000" defTabSz="457200">
              <a:lnSpc>
                <a:spcPct val="100000"/>
              </a:lnSpc>
              <a:spcBef>
                <a:spcPts val="70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Uvidíš modrú plochu s jednou sivou budovou — Home City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2" name="Rectangle 4"/>
          <p:cNvSpPr/>
          <p:nvPr/>
        </p:nvSpPr>
        <p:spPr>
          <a:xfrm>
            <a:off x="457200" y="5760720"/>
            <a:ext cx="11273040" cy="775800"/>
          </a:xfrm>
          <a:prstGeom prst="rect">
            <a:avLst/>
          </a:prstGeom>
          <a:solidFill>
            <a:srgbClr val="332D00"/>
          </a:solidFill>
          <a:ln w="19050">
            <a:solidFill>
              <a:srgbClr val="FFD7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5"/>
          <p:cNvSpPr/>
          <p:nvPr/>
        </p:nvSpPr>
        <p:spPr>
          <a:xfrm>
            <a:off x="685800" y="5852160"/>
            <a:ext cx="10788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⏸  </a:t>
            </a:r>
            <a:r>
              <a:rPr lang="en-US" sz="1400" b="1" u="none" strike="noStrike">
                <a:solidFill>
                  <a:srgbClr val="FFE580"/>
                </a:solidFill>
                <a:effectLst/>
                <a:uFillTx/>
                <a:latin typeface="Calibri"/>
              </a:rPr>
              <a:t>Žiaci: Otvorte PT, prepnite do Physical View. Čo vidíte na obrazovke?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TextBox 1"/>
          <p:cNvSpPr/>
          <p:nvPr/>
        </p:nvSpPr>
        <p:spPr>
          <a:xfrm>
            <a:off x="685800" y="411480"/>
            <a:ext cx="10788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Hierarchia Physical View — ako sa pohybovať</a:t>
            </a:r>
            <a:endParaRPr lang="de-D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5" name="Rectangle 2"/>
          <p:cNvSpPr/>
          <p:nvPr/>
        </p:nvSpPr>
        <p:spPr>
          <a:xfrm>
            <a:off x="685800" y="1078920"/>
            <a:ext cx="10514160" cy="3528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6" name="TextBox 3"/>
          <p:cNvSpPr/>
          <p:nvPr/>
        </p:nvSpPr>
        <p:spPr>
          <a:xfrm>
            <a:off x="685800" y="1508760"/>
            <a:ext cx="10788480" cy="265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Štruktúra je ako bábiky v sebe: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Home City  →  Budova (Corporate Office)  →  Miestnosť  →  Rack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Dvojklikni na budovu  Corporate Office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5CFF8A"/>
              </a:buClr>
              <a:buFont typeface="OpenSymbol"/>
              <a:buChar char="✓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Uvidíš dve miestnosti:  Main Wiring Closet  (serverovňa)  a  First Floor  (kancelárie)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Dvojklikni na  Main Wiring Closet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5CFF8A"/>
              </a:buClr>
              <a:buFont typeface="OpenSymbol"/>
              <a:buChar char="✓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Serverovňa — prázdny rack (sivá skriňa)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Navigácia späť: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tlačidlo  Back  vpravo hore — vráti o úroveň vyššie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5C5C"/>
              </a:buClr>
              <a:buFont typeface="OpenSymbol"/>
              <a:buChar char="⚠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Rack je len v Main Wiring Closet — na First Floor rack nie je, tam patria PC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7" name="Rectangle 4"/>
          <p:cNvSpPr/>
          <p:nvPr/>
        </p:nvSpPr>
        <p:spPr>
          <a:xfrm>
            <a:off x="457200" y="5760720"/>
            <a:ext cx="11273040" cy="775800"/>
          </a:xfrm>
          <a:prstGeom prst="rect">
            <a:avLst/>
          </a:prstGeom>
          <a:solidFill>
            <a:srgbClr val="332D00"/>
          </a:solidFill>
          <a:ln w="19050">
            <a:solidFill>
              <a:srgbClr val="FFD7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TextBox 5"/>
          <p:cNvSpPr/>
          <p:nvPr/>
        </p:nvSpPr>
        <p:spPr>
          <a:xfrm>
            <a:off x="685800" y="5852160"/>
            <a:ext cx="10788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⏸  </a:t>
            </a:r>
            <a:r>
              <a:rPr lang="en-US" sz="1400" b="1" u="none" strike="noStrike">
                <a:solidFill>
                  <a:srgbClr val="FFE580"/>
                </a:solidFill>
                <a:effectLst/>
                <a:uFillTx/>
                <a:latin typeface="Calibri"/>
              </a:rPr>
              <a:t>Žiaci: Navigujte do Main Wiring Closet. Vidíte prázdny rack? Zdvihnite ruku.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1"/>
          <p:cNvSpPr/>
          <p:nvPr/>
        </p:nvSpPr>
        <p:spPr>
          <a:xfrm>
            <a:off x="365760" y="109800"/>
            <a:ext cx="11428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KROK 0 — Horná lišta Physical View</a:t>
            </a:r>
            <a:endParaRPr lang="de-DE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0" name="Rectangle 2"/>
          <p:cNvSpPr/>
          <p:nvPr/>
        </p:nvSpPr>
        <p:spPr>
          <a:xfrm>
            <a:off x="365760" y="676800"/>
            <a:ext cx="11428560" cy="25920"/>
          </a:xfrm>
          <a:prstGeom prst="rect">
            <a:avLst/>
          </a:prstGeom>
          <a:solidFill>
            <a:srgbClr val="FFD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1" name="Picture 3" descr="1780473765036_image.png"/>
          <p:cNvPicPr/>
          <p:nvPr/>
        </p:nvPicPr>
        <p:blipFill>
          <a:blip r:embed="rId1"/>
          <a:stretch/>
        </p:blipFill>
        <p:spPr>
          <a:xfrm>
            <a:off x="451440" y="914400"/>
            <a:ext cx="11428560" cy="1062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82" name="Rectangle 4"/>
          <p:cNvSpPr/>
          <p:nvPr/>
        </p:nvSpPr>
        <p:spPr>
          <a:xfrm>
            <a:off x="5373360" y="868680"/>
            <a:ext cx="719640" cy="1154160"/>
          </a:xfrm>
          <a:prstGeom prst="rect">
            <a:avLst/>
          </a:prstGeom>
          <a:noFill/>
          <a:ln w="38100">
            <a:solidFill>
              <a:srgbClr val="FFD7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Connector 5"/>
          <p:cNvCxnSpPr/>
          <p:nvPr/>
        </p:nvCxnSpPr>
        <p:spPr>
          <a:xfrm flipH="1" flipV="1" rot="5400000">
            <a:off x="5504040" y="2252880"/>
            <a:ext cx="458640" cy="1440"/>
          </a:xfrm>
          <a:prstGeom prst="bentConnector3">
            <a:avLst>
              <a:gd name="adj1" fmla="val 0"/>
            </a:avLst>
          </a:prstGeom>
          <a:ln w="31750">
            <a:solidFill>
              <a:srgbClr val="FFD700"/>
            </a:solidFill>
            <a:round/>
            <a:headEnd len="med" type="arrow" w="med"/>
          </a:ln>
        </p:spPr>
      </p:cxnSp>
      <p:sp>
        <p:nvSpPr>
          <p:cNvPr id="84" name="Rounded Rectangle 6"/>
          <p:cNvSpPr/>
          <p:nvPr/>
        </p:nvSpPr>
        <p:spPr>
          <a:xfrm>
            <a:off x="5157720" y="2472480"/>
            <a:ext cx="1150560" cy="391680"/>
          </a:xfrm>
          <a:prstGeom prst="roundRect">
            <a:avLst>
              <a:gd name="adj" fmla="val 16667"/>
            </a:avLst>
          </a:prstGeom>
          <a:solidFill>
            <a:srgbClr val="332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5" name="TextBox 7"/>
          <p:cNvSpPr/>
          <p:nvPr/>
        </p:nvSpPr>
        <p:spPr>
          <a:xfrm>
            <a:off x="5230800" y="2509200"/>
            <a:ext cx="100440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Add Rack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6" name="TextBox 8"/>
          <p:cNvSpPr/>
          <p:nvPr/>
        </p:nvSpPr>
        <p:spPr>
          <a:xfrm>
            <a:off x="345240" y="2023200"/>
            <a:ext cx="5027760" cy="158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D7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New City — nové mesto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D7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New Building — nová budova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D7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New Closet — nová serverovňa (Wiring Closet)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D7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New Rack ★ — pridá rack do serverovne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D7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Move Object — presúvanie zariadení v racku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7" name="TextBox 9"/>
          <p:cNvSpPr/>
          <p:nvPr/>
        </p:nvSpPr>
        <p:spPr>
          <a:xfrm>
            <a:off x="6480000" y="1980000"/>
            <a:ext cx="5942160" cy="1589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D7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Naviguj do Main Wiring Closet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D7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Klikni na ikonu  Add Rack  (zvýraznená žltým)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D7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Klikni do prázdnej plochy — rack sa pridá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D7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Presuň Switch + Router z panelu do racku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5555"/>
              </a:buClr>
              <a:buFont typeface="OpenSymbol"/>
              <a:buChar char="⚠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Bez racku nemôžeš umiestniť zariadenia!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8" name="TextBox 10"/>
          <p:cNvSpPr/>
          <p:nvPr/>
        </p:nvSpPr>
        <p:spPr>
          <a:xfrm>
            <a:off x="365760" y="6053400"/>
            <a:ext cx="114285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⏸  Žiaci: Nájdite túto lištu v PT po prepnutí do Physical View.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TextBox 1"/>
          <p:cNvSpPr/>
          <p:nvPr/>
        </p:nvSpPr>
        <p:spPr>
          <a:xfrm>
            <a:off x="365760" y="109800"/>
            <a:ext cx="11428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KROK 1 — Prepni do Physical View a nájdi budovu</a:t>
            </a:r>
            <a:endParaRPr lang="de-DE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0" name="Rectangle 2"/>
          <p:cNvSpPr/>
          <p:nvPr/>
        </p:nvSpPr>
        <p:spPr>
          <a:xfrm>
            <a:off x="365760" y="676800"/>
            <a:ext cx="11428560" cy="25920"/>
          </a:xfrm>
          <a:prstGeom prst="rect">
            <a:avLst/>
          </a:prstGeom>
          <a:solidFill>
            <a:srgbClr val="FFD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91" name="Picture 3" descr="1780470826495_image.png"/>
          <p:cNvPicPr/>
          <p:nvPr/>
        </p:nvPicPr>
        <p:blipFill>
          <a:blip r:embed="rId1"/>
          <a:stretch/>
        </p:blipFill>
        <p:spPr>
          <a:xfrm>
            <a:off x="274320" y="749880"/>
            <a:ext cx="8045280" cy="516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4"/>
          <p:cNvSpPr/>
          <p:nvPr/>
        </p:nvSpPr>
        <p:spPr>
          <a:xfrm>
            <a:off x="674280" y="1462680"/>
            <a:ext cx="401040" cy="108720"/>
          </a:xfrm>
          <a:prstGeom prst="rect">
            <a:avLst/>
          </a:prstGeom>
          <a:noFill/>
          <a:ln w="38100">
            <a:solidFill>
              <a:srgbClr val="FFD7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Rounded Rectangle 5"/>
          <p:cNvSpPr/>
          <p:nvPr/>
        </p:nvSpPr>
        <p:spPr>
          <a:xfrm>
            <a:off x="612720" y="1080000"/>
            <a:ext cx="474120" cy="401040"/>
          </a:xfrm>
          <a:prstGeom prst="roundRect">
            <a:avLst>
              <a:gd name="adj" fmla="val 16667"/>
            </a:avLst>
          </a:prstGeom>
          <a:solidFill>
            <a:srgbClr val="332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4" name="TextBox 6"/>
          <p:cNvSpPr/>
          <p:nvPr/>
        </p:nvSpPr>
        <p:spPr>
          <a:xfrm>
            <a:off x="612720" y="105120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①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Rectangle 7"/>
          <p:cNvSpPr/>
          <p:nvPr/>
        </p:nvSpPr>
        <p:spPr>
          <a:xfrm>
            <a:off x="676800" y="1620360"/>
            <a:ext cx="1490400" cy="1653840"/>
          </a:xfrm>
          <a:prstGeom prst="rect">
            <a:avLst/>
          </a:prstGeom>
          <a:noFill/>
          <a:ln w="38100">
            <a:solidFill>
              <a:srgbClr val="FF5555"/>
            </a:solidFill>
            <a:prstDash val="lg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6" name="Rounded Rectangle 8"/>
          <p:cNvSpPr/>
          <p:nvPr/>
        </p:nvSpPr>
        <p:spPr>
          <a:xfrm>
            <a:off x="1184760" y="1172520"/>
            <a:ext cx="474120" cy="401040"/>
          </a:xfrm>
          <a:prstGeom prst="roundRect">
            <a:avLst>
              <a:gd name="adj" fmla="val 16667"/>
            </a:avLst>
          </a:prstGeom>
          <a:solidFill>
            <a:srgbClr val="3300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7" name="TextBox 9"/>
          <p:cNvSpPr/>
          <p:nvPr/>
        </p:nvSpPr>
        <p:spPr>
          <a:xfrm>
            <a:off x="1258200" y="120888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5555"/>
                </a:solidFill>
                <a:effectLst/>
                <a:uFillTx/>
                <a:latin typeface="Calibri"/>
              </a:rPr>
              <a:t>②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8" name="TextBox 10"/>
          <p:cNvSpPr/>
          <p:nvPr/>
        </p:nvSpPr>
        <p:spPr>
          <a:xfrm>
            <a:off x="8503920" y="1371600"/>
            <a:ext cx="3473280" cy="1411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D700"/>
              </a:buClr>
              <a:buFont typeface="Monotype Sorts" charset="2"/>
              <a:buChar char="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Klikni záložku  [Physical]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5555"/>
              </a:buClr>
              <a:buFont typeface="Monotype Sorts" charset="2"/>
              <a:buChar char="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Dvojklikni na budovu  Corporate Office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5CFF8A"/>
              </a:buClr>
              <a:buFont typeface="OpenSymbol"/>
              <a:buChar char="✓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Uvidíš pôdorys budovy s miestnosťami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9" name="TextBox 11"/>
          <p:cNvSpPr/>
          <p:nvPr/>
        </p:nvSpPr>
        <p:spPr>
          <a:xfrm>
            <a:off x="365760" y="6053400"/>
            <a:ext cx="114285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⏸  Žiaci: Prepnite do Physical View a dvojkliknite na Corporate Office.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TextBox 1"/>
          <p:cNvSpPr/>
          <p:nvPr/>
        </p:nvSpPr>
        <p:spPr>
          <a:xfrm>
            <a:off x="365760" y="109800"/>
            <a:ext cx="11428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KROK 2 — Vojdi do Main Wiring Closet</a:t>
            </a:r>
            <a:endParaRPr lang="de-DE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Rectangle 2"/>
          <p:cNvSpPr/>
          <p:nvPr/>
        </p:nvSpPr>
        <p:spPr>
          <a:xfrm>
            <a:off x="365760" y="676800"/>
            <a:ext cx="11428560" cy="25920"/>
          </a:xfrm>
          <a:prstGeom prst="rect">
            <a:avLst/>
          </a:prstGeom>
          <a:solidFill>
            <a:srgbClr val="FFD7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2" name="Picture 3" descr="1780470852175_image.png"/>
          <p:cNvPicPr/>
          <p:nvPr/>
        </p:nvPicPr>
        <p:blipFill>
          <a:blip r:embed="rId1"/>
          <a:stretch/>
        </p:blipFill>
        <p:spPr>
          <a:xfrm>
            <a:off x="274320" y="749880"/>
            <a:ext cx="8045280" cy="516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3" name="Rectangle 4"/>
          <p:cNvSpPr/>
          <p:nvPr/>
        </p:nvSpPr>
        <p:spPr>
          <a:xfrm>
            <a:off x="2969280" y="2223000"/>
            <a:ext cx="719280" cy="692280"/>
          </a:xfrm>
          <a:prstGeom prst="rect">
            <a:avLst/>
          </a:prstGeom>
          <a:noFill/>
          <a:ln w="50800">
            <a:solidFill>
              <a:srgbClr val="FFD7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4" name="Rounded Rectangle 5"/>
          <p:cNvSpPr/>
          <p:nvPr/>
        </p:nvSpPr>
        <p:spPr>
          <a:xfrm>
            <a:off x="3091680" y="1775160"/>
            <a:ext cx="474120" cy="401040"/>
          </a:xfrm>
          <a:prstGeom prst="roundRect">
            <a:avLst>
              <a:gd name="adj" fmla="val 16667"/>
            </a:avLst>
          </a:prstGeom>
          <a:solidFill>
            <a:srgbClr val="332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5" name="TextBox 6"/>
          <p:cNvSpPr/>
          <p:nvPr/>
        </p:nvSpPr>
        <p:spPr>
          <a:xfrm>
            <a:off x="3165120" y="1811520"/>
            <a:ext cx="327600" cy="327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8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②</a:t>
            </a:r>
            <a:endParaRPr lang="de-DE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Box 7"/>
          <p:cNvSpPr/>
          <p:nvPr/>
        </p:nvSpPr>
        <p:spPr>
          <a:xfrm>
            <a:off x="8503920" y="1371600"/>
            <a:ext cx="3473280" cy="15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C8C8C8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 v budove Corporate Office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D700"/>
              </a:buClr>
              <a:buFont typeface="Monotype Sorts" charset="2"/>
              <a:buChar char=""/>
            </a:pPr>
            <a:r>
              <a:rPr lang="en-US" sz="15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Dvojklikni na ikonu  Main Wiring Closet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5CFF8A"/>
              </a:buClr>
              <a:buFont typeface="OpenSymbol"/>
              <a:buChar char="✓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Vojdeš do serverovne — uvidíš rack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777777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Späť:  tlačidlo  Back  vpravo hore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Box 8"/>
          <p:cNvSpPr/>
          <p:nvPr/>
        </p:nvSpPr>
        <p:spPr>
          <a:xfrm>
            <a:off x="365760" y="6053400"/>
            <a:ext cx="11428560" cy="68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⏸  Žiaci: Nájdite ikonu Main Wiring Closet a dvojkliknite na ňu.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/>
          <p:nvPr/>
        </p:nvSpPr>
        <p:spPr>
          <a:xfrm>
            <a:off x="365760" y="109800"/>
            <a:ext cx="11428560" cy="565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KROK 3 — Rack: Switch, PDU a Router</a:t>
            </a:r>
            <a:endParaRPr lang="de-DE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9" name="Rectangle 2"/>
          <p:cNvSpPr/>
          <p:nvPr/>
        </p:nvSpPr>
        <p:spPr>
          <a:xfrm>
            <a:off x="365760" y="676800"/>
            <a:ext cx="11428560" cy="2592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10" name="Picture 3" descr="1780473097668_image.png"/>
          <p:cNvPicPr/>
          <p:nvPr/>
        </p:nvPicPr>
        <p:blipFill>
          <a:blip r:embed="rId1"/>
          <a:stretch/>
        </p:blipFill>
        <p:spPr>
          <a:xfrm>
            <a:off x="360000" y="676800"/>
            <a:ext cx="2924640" cy="522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1" name="Rectangle 4"/>
          <p:cNvSpPr/>
          <p:nvPr/>
        </p:nvSpPr>
        <p:spPr>
          <a:xfrm>
            <a:off x="469080" y="1260000"/>
            <a:ext cx="2590920" cy="180000"/>
          </a:xfrm>
          <a:prstGeom prst="rect">
            <a:avLst/>
          </a:prstGeom>
          <a:noFill/>
          <a:ln w="31750">
            <a:solidFill>
              <a:srgbClr val="4A9EDB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2" name="Rectangle 5"/>
          <p:cNvSpPr/>
          <p:nvPr/>
        </p:nvSpPr>
        <p:spPr>
          <a:xfrm>
            <a:off x="469080" y="976320"/>
            <a:ext cx="2590920" cy="283680"/>
          </a:xfrm>
          <a:prstGeom prst="rect">
            <a:avLst/>
          </a:prstGeom>
          <a:noFill/>
          <a:ln w="31750">
            <a:solidFill>
              <a:srgbClr val="FF5555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3" name="Rectangle 6"/>
          <p:cNvSpPr/>
          <p:nvPr/>
        </p:nvSpPr>
        <p:spPr>
          <a:xfrm>
            <a:off x="540000" y="1440000"/>
            <a:ext cx="2520000" cy="202320"/>
          </a:xfrm>
          <a:prstGeom prst="rect">
            <a:avLst/>
          </a:prstGeom>
          <a:noFill/>
          <a:ln w="31750">
            <a:solidFill>
              <a:srgbClr val="4ECDC4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4" name="TextBox 7"/>
          <p:cNvSpPr/>
          <p:nvPr/>
        </p:nvSpPr>
        <p:spPr>
          <a:xfrm>
            <a:off x="4320000" y="94140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A9EDB"/>
                </a:solidFill>
                <a:effectLst/>
                <a:uFillTx/>
                <a:latin typeface="Calibri"/>
              </a:rPr>
              <a:t>Switch 2960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5" name="TextBox 8"/>
          <p:cNvSpPr/>
          <p:nvPr/>
        </p:nvSpPr>
        <p:spPr>
          <a:xfrm>
            <a:off x="4289760" y="133992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FF5555"/>
                </a:solidFill>
                <a:effectLst/>
                <a:uFillTx/>
                <a:latin typeface="Calibri"/>
              </a:rPr>
              <a:t>PDU — napájanie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Box 9"/>
          <p:cNvSpPr/>
          <p:nvPr/>
        </p:nvSpPr>
        <p:spPr>
          <a:xfrm>
            <a:off x="4320000" y="1800000"/>
            <a:ext cx="2010240" cy="31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400" b="1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Router 2911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pic>
        <p:nvPicPr>
          <p:cNvPr id="117" name="Picture 10" descr="1780470886638_image.png"/>
          <p:cNvPicPr/>
          <p:nvPr/>
        </p:nvPicPr>
        <p:blipFill>
          <a:blip r:embed="rId2"/>
          <a:stretch/>
        </p:blipFill>
        <p:spPr>
          <a:xfrm>
            <a:off x="6036840" y="703800"/>
            <a:ext cx="6023160" cy="51649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18" name="Rectangle 11"/>
          <p:cNvSpPr/>
          <p:nvPr/>
        </p:nvSpPr>
        <p:spPr>
          <a:xfrm>
            <a:off x="6120000" y="1698120"/>
            <a:ext cx="538920" cy="3409200"/>
          </a:xfrm>
          <a:prstGeom prst="rect">
            <a:avLst/>
          </a:prstGeom>
          <a:noFill/>
          <a:ln w="38100">
            <a:solidFill>
              <a:srgbClr val="FFD700"/>
            </a:solidFill>
            <a:prstDash val="lgDash"/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9" name="Rounded Rectangle 12"/>
          <p:cNvSpPr/>
          <p:nvPr/>
        </p:nvSpPr>
        <p:spPr>
          <a:xfrm>
            <a:off x="6762600" y="1721520"/>
            <a:ext cx="1516320" cy="437400"/>
          </a:xfrm>
          <a:prstGeom prst="roundRect">
            <a:avLst>
              <a:gd name="adj" fmla="val 16667"/>
            </a:avLst>
          </a:prstGeom>
          <a:solidFill>
            <a:srgbClr val="332A00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0" name="TextBox 13"/>
          <p:cNvSpPr/>
          <p:nvPr/>
        </p:nvSpPr>
        <p:spPr>
          <a:xfrm>
            <a:off x="6840000" y="1721520"/>
            <a:ext cx="137016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Rack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Box 14"/>
          <p:cNvSpPr/>
          <p:nvPr/>
        </p:nvSpPr>
        <p:spPr>
          <a:xfrm>
            <a:off x="365760" y="6053400"/>
            <a:ext cx="11428560" cy="31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⏸  Žiaci: Presuňte Switch 2960 a Router 2911 do racku. Zapojte napájanie z PDU.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extBox 1"/>
          <p:cNvSpPr/>
          <p:nvPr/>
        </p:nvSpPr>
        <p:spPr>
          <a:xfrm>
            <a:off x="365760" y="109800"/>
            <a:ext cx="5380920" cy="42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22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Main Wiring Closet — ako by to malo vyzerať</a:t>
            </a:r>
            <a:endParaRPr lang="de-DE" sz="22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3" name="Rectangle 2"/>
          <p:cNvSpPr/>
          <p:nvPr/>
        </p:nvSpPr>
        <p:spPr>
          <a:xfrm>
            <a:off x="365760" y="676800"/>
            <a:ext cx="11428560" cy="2592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17640" rIns="90000" bIns="-1764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4" name="Picture 3" descr="1780472474022_image.png"/>
          <p:cNvPicPr/>
          <p:nvPr/>
        </p:nvPicPr>
        <p:blipFill>
          <a:blip r:embed="rId1"/>
          <a:stretch/>
        </p:blipFill>
        <p:spPr>
          <a:xfrm>
            <a:off x="5040000" y="795960"/>
            <a:ext cx="2513160" cy="52563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5" name="TextBox 4"/>
          <p:cNvSpPr/>
          <p:nvPr/>
        </p:nvSpPr>
        <p:spPr>
          <a:xfrm>
            <a:off x="365760" y="6053400"/>
            <a:ext cx="11428560" cy="65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4ECDC4"/>
                </a:solidFill>
                <a:effectLst/>
                <a:uFillTx/>
                <a:latin typeface="Calibri"/>
              </a:rPr>
              <a:t>⏸  Žiaci: Switch hore, PDU v strede, Router dole. Sem presuňte zariadenia.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TextBox 1"/>
          <p:cNvSpPr/>
          <p:nvPr/>
        </p:nvSpPr>
        <p:spPr>
          <a:xfrm>
            <a:off x="685800" y="411480"/>
            <a:ext cx="10788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Pridanie zariadení — čo kam patrí</a:t>
            </a:r>
            <a:endParaRPr lang="de-D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7" name="Rectangle 2"/>
          <p:cNvSpPr/>
          <p:nvPr/>
        </p:nvSpPr>
        <p:spPr>
          <a:xfrm>
            <a:off x="685800" y="1078920"/>
            <a:ext cx="10514160" cy="3528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28" name="TextBox 3"/>
          <p:cNvSpPr/>
          <p:nvPr/>
        </p:nvSpPr>
        <p:spPr>
          <a:xfrm>
            <a:off x="685800" y="1508760"/>
            <a:ext cx="10788480" cy="276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Pravidlo: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Switch a Router → DO RACKU  |  PC → na poschodie (First Floor)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Si v Main Wiring Closet — vľavo dole panel  Network Devices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Switches → 2960-24TT → presuň do racku myšou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Routers → 2911 → presuň do racku rovnako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5CFF8A"/>
              </a:buClr>
              <a:buFont typeface="OpenSymbol"/>
              <a:buChar char="✓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Switch a router zaberajú sloty v racku (1–2U každý)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Back → vojdi do First Floor → presuň 3× PC na plochu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5CFF8A"/>
              </a:buClr>
              <a:buFont typeface="OpenSymbol"/>
              <a:buChar char="✓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PC sú na poschodí pri stoloch — správne rozmiestnenie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5C5C"/>
              </a:buClr>
              <a:buFont typeface="OpenSymbol"/>
              <a:buChar char="⚠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PC do racku = chyba. Switch na poschodie = chyba. Skontroluj pracovný list.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Rectangle 4"/>
          <p:cNvSpPr/>
          <p:nvPr/>
        </p:nvSpPr>
        <p:spPr>
          <a:xfrm>
            <a:off x="457200" y="5760720"/>
            <a:ext cx="11273040" cy="775800"/>
          </a:xfrm>
          <a:prstGeom prst="rect">
            <a:avLst/>
          </a:prstGeom>
          <a:solidFill>
            <a:srgbClr val="332D00"/>
          </a:solidFill>
          <a:ln w="19050">
            <a:solidFill>
              <a:srgbClr val="FFD7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TextBox 5"/>
          <p:cNvSpPr/>
          <p:nvPr/>
        </p:nvSpPr>
        <p:spPr>
          <a:xfrm>
            <a:off x="685800" y="5852160"/>
            <a:ext cx="10788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⏸  </a:t>
            </a:r>
            <a:r>
              <a:rPr lang="en-US" sz="1400" b="1" u="none" strike="noStrike">
                <a:solidFill>
                  <a:srgbClr val="FFE580"/>
                </a:solidFill>
                <a:effectLst/>
                <a:uFillTx/>
                <a:latin typeface="Calibri"/>
              </a:rPr>
              <a:t>Žiaci: Pridajte Switch 2960, Router 2911 do racku a 3× PC na First Floor.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Box 1"/>
          <p:cNvSpPr/>
          <p:nvPr/>
        </p:nvSpPr>
        <p:spPr>
          <a:xfrm>
            <a:off x="685800" y="411480"/>
            <a:ext cx="10788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Napájanie — PDU</a:t>
            </a:r>
            <a:endParaRPr lang="de-D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2" name="Rectangle 2"/>
          <p:cNvSpPr/>
          <p:nvPr/>
        </p:nvSpPr>
        <p:spPr>
          <a:xfrm>
            <a:off x="685800" y="1078920"/>
            <a:ext cx="10514160" cy="3528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3" name="TextBox 3"/>
          <p:cNvSpPr/>
          <p:nvPr/>
        </p:nvSpPr>
        <p:spPr>
          <a:xfrm>
            <a:off x="685800" y="1508760"/>
            <a:ext cx="10788480" cy="267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PDU = Power Distribution Unit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napájacia lišta v racku — ako predlžovačka pre serverovňu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bez napájania zariadenie v PT nefunguje — simulácia reálneho prostredia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 racku nájdi PDU — hnedá lišta dole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Klikni na switch → záložka Physical → uvidíš PWR port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Presuň napájací kábel z PDU na PWR port switchu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To isté zopakuj pre router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5CFF8A"/>
              </a:buClr>
              <a:buFont typeface="OpenSymbol"/>
              <a:buChar char="✓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LEDky sa rozsvietia nazeleno — zariadenia zapnuté a funkčné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5C5C"/>
              </a:buClr>
              <a:buFont typeface="OpenSymbol"/>
              <a:buChar char="⚠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Zabudol si na PDU? Ping nebude fungovať — najčastejšia chyba v PT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457200" y="5760720"/>
            <a:ext cx="11273040" cy="775800"/>
          </a:xfrm>
          <a:prstGeom prst="rect">
            <a:avLst/>
          </a:prstGeom>
          <a:solidFill>
            <a:srgbClr val="332D00"/>
          </a:solidFill>
          <a:ln w="19050">
            <a:solidFill>
              <a:srgbClr val="FFD7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5" name="TextBox 5"/>
          <p:cNvSpPr/>
          <p:nvPr/>
        </p:nvSpPr>
        <p:spPr>
          <a:xfrm>
            <a:off x="685800" y="5852160"/>
            <a:ext cx="10788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⏸  </a:t>
            </a:r>
            <a:r>
              <a:rPr lang="en-US" sz="1400" b="1" u="none" strike="noStrike">
                <a:solidFill>
                  <a:srgbClr val="FFE580"/>
                </a:solidFill>
                <a:effectLst/>
                <a:uFillTx/>
                <a:latin typeface="Calibri"/>
              </a:rPr>
              <a:t>Žiaci: Zapojte napájanie z PDU na switch aj router. Svietia LEDky nazeleno?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Box 12"/>
          <p:cNvSpPr/>
          <p:nvPr/>
        </p:nvSpPr>
        <p:spPr>
          <a:xfrm>
            <a:off x="685800" y="411480"/>
            <a:ext cx="10788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Výber správneho kábla</a:t>
            </a:r>
            <a:endParaRPr lang="de-D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Rectangle 1"/>
          <p:cNvSpPr/>
          <p:nvPr/>
        </p:nvSpPr>
        <p:spPr>
          <a:xfrm>
            <a:off x="685800" y="1078920"/>
            <a:ext cx="10514160" cy="3528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8" name="TextBox 15"/>
          <p:cNvSpPr/>
          <p:nvPr/>
        </p:nvSpPr>
        <p:spPr>
          <a:xfrm>
            <a:off x="685800" y="1508760"/>
            <a:ext cx="10788480" cy="29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Copper Straight-Through — modrý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PC → Switch,  Switch → Router  (rôzne typy zariadení)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pravidlo: ak spájaš rôzne zariadenia = modrý priamy kábel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Copper Crossover — červený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Switch → Switch,  PC → PC  (rovnaké typy zariadení)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Serial — hrubý červený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Router → Router — simuluje linku od ISP (internetového poskytovateľa)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Console — plochý tmavomodrý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nastavenie zariadenia cez COM port — bez siete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Pre dnešnú úlohu: vždy Copper Straight-Through (modrý)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5CFF8A"/>
              </a:buClr>
              <a:buFont typeface="OpenSymbol"/>
              <a:buChar char="✓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PC→Switch = modrý  |  Switch→Router = modrý  |  ostatné dnes nepoužívame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TextBox 16"/>
          <p:cNvSpPr/>
          <p:nvPr/>
        </p:nvSpPr>
        <p:spPr>
          <a:xfrm>
            <a:off x="685800" y="411480"/>
            <a:ext cx="10788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Zapojenie káblov</a:t>
            </a:r>
            <a:endParaRPr lang="de-D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0" name="Rectangle 8"/>
          <p:cNvSpPr/>
          <p:nvPr/>
        </p:nvSpPr>
        <p:spPr>
          <a:xfrm>
            <a:off x="685800" y="1078920"/>
            <a:ext cx="10514160" cy="3528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1" name="TextBox 17"/>
          <p:cNvSpPr/>
          <p:nvPr/>
        </p:nvSpPr>
        <p:spPr>
          <a:xfrm>
            <a:off x="685800" y="1508760"/>
            <a:ext cx="10788480" cy="2541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Panel nástrojov → Copper Straight-Through (modrý kábel)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Klikni na Switch v racku → port  FastEthernet0/1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Klikni na PC0 na First Floor → port  FastEthernet0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5CFF8A"/>
              </a:buClr>
              <a:buFont typeface="OpenSymbol"/>
              <a:buChar char="✓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Zelená čiara = spojenie OK,  port svieti nazeleno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Zopakuj: PC1 → Switch Fa0/2,  PC2 → Switch Fa0/3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Switch GigabitEthernet0/1  →  Router GigabitEthernet0/0  (tiež modrý)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5CFF8A"/>
              </a:buClr>
              <a:buFont typeface="OpenSymbol"/>
              <a:buChar char="✓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Všetky káble zelené — fyzická hviezdicová topológia je hotová!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5C5C"/>
              </a:buClr>
              <a:buFont typeface="OpenSymbol"/>
              <a:buChar char="⚠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Oranžová = port sa štartuje (počkaj 30 s),  Červená = zlý kábel alebo vypnutý port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Rectangle 9"/>
          <p:cNvSpPr/>
          <p:nvPr/>
        </p:nvSpPr>
        <p:spPr>
          <a:xfrm>
            <a:off x="457200" y="5760720"/>
            <a:ext cx="11273040" cy="775800"/>
          </a:xfrm>
          <a:prstGeom prst="rect">
            <a:avLst/>
          </a:prstGeom>
          <a:solidFill>
            <a:srgbClr val="332D00"/>
          </a:solidFill>
          <a:ln w="19050">
            <a:solidFill>
              <a:srgbClr val="FFD7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3" name="TextBox 18"/>
          <p:cNvSpPr/>
          <p:nvPr/>
        </p:nvSpPr>
        <p:spPr>
          <a:xfrm>
            <a:off x="685800" y="5852160"/>
            <a:ext cx="10788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⏸  </a:t>
            </a:r>
            <a:r>
              <a:rPr lang="en-US" sz="1400" b="1" u="none" strike="noStrike">
                <a:solidFill>
                  <a:srgbClr val="FFE580"/>
                </a:solidFill>
                <a:effectLst/>
                <a:uFillTx/>
                <a:latin typeface="Calibri"/>
              </a:rPr>
              <a:t>Žiaci: Zapojte všetky káble. Máte 5 zelených spojení? (PC0,1,2 → Switch → Router)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9"/>
          <p:cNvSpPr/>
          <p:nvPr/>
        </p:nvSpPr>
        <p:spPr>
          <a:xfrm>
            <a:off x="685800" y="411480"/>
            <a:ext cx="10788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Konfigurácia IP adries</a:t>
            </a:r>
            <a:endParaRPr lang="de-D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5" name="Rectangle 10"/>
          <p:cNvSpPr/>
          <p:nvPr/>
        </p:nvSpPr>
        <p:spPr>
          <a:xfrm>
            <a:off x="685800" y="1078920"/>
            <a:ext cx="10514160" cy="3528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6" name="TextBox 20"/>
          <p:cNvSpPr/>
          <p:nvPr/>
        </p:nvSpPr>
        <p:spPr>
          <a:xfrm>
            <a:off x="685800" y="1508760"/>
            <a:ext cx="10788480" cy="257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Dvojklikni na PC0 → Desktop → IP Configuration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IP: 192.168.1.10   Maska: 255.255.255.0   Gateway: 192.168.1.1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PC1:  192.168.1.11  /  255.255.255.0  /  GW: 192.168.1.1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PC2:  192.168.1.12  /  255.255.255.0  /  GW: 192.168.1.1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Router → CLI → zadaj riadok po riadku: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enable   →   configure terminal   →   interface GigabitEthernet0/0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ip address 192.168.1.1 255.255.255.0   →   no shutdown   →   end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5C5C"/>
              </a:buClr>
              <a:buFont typeface="OpenSymbol"/>
              <a:buChar char="⚠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Bez  no shutdown  je interface vypnutý — ping bude padať!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5CFF8A"/>
              </a:buClr>
              <a:buFont typeface="OpenSymbol"/>
              <a:buChar char="✓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Router má IP 192.168.1.1 — to je brána pre všetky PC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7" name="Rectangle 12"/>
          <p:cNvSpPr/>
          <p:nvPr/>
        </p:nvSpPr>
        <p:spPr>
          <a:xfrm>
            <a:off x="457200" y="5760720"/>
            <a:ext cx="11273040" cy="775800"/>
          </a:xfrm>
          <a:prstGeom prst="rect">
            <a:avLst/>
          </a:prstGeom>
          <a:solidFill>
            <a:srgbClr val="332D00"/>
          </a:solidFill>
          <a:ln w="19050">
            <a:solidFill>
              <a:srgbClr val="FFD7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8" name="TextBox 21"/>
          <p:cNvSpPr/>
          <p:nvPr/>
        </p:nvSpPr>
        <p:spPr>
          <a:xfrm>
            <a:off x="685800" y="5852160"/>
            <a:ext cx="10788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⏸  </a:t>
            </a:r>
            <a:r>
              <a:rPr lang="en-US" sz="1400" b="1" u="none" strike="noStrike">
                <a:solidFill>
                  <a:srgbClr val="FFE580"/>
                </a:solidFill>
                <a:effectLst/>
                <a:uFillTx/>
                <a:latin typeface="Calibri"/>
              </a:rPr>
              <a:t>Žiaci: Nastavte IP na všetkých PC a nakonfigurujte router CLI.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TextBox 22"/>
          <p:cNvSpPr/>
          <p:nvPr/>
        </p:nvSpPr>
        <p:spPr>
          <a:xfrm>
            <a:off x="685800" y="411480"/>
            <a:ext cx="10788480" cy="77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Testovanie siete — ping</a:t>
            </a:r>
            <a:endParaRPr lang="de-D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0" name="Rectangle 13"/>
          <p:cNvSpPr/>
          <p:nvPr/>
        </p:nvSpPr>
        <p:spPr>
          <a:xfrm>
            <a:off x="685800" y="1078920"/>
            <a:ext cx="10514160" cy="35280"/>
          </a:xfrm>
          <a:prstGeom prst="rect">
            <a:avLst/>
          </a:prstGeom>
          <a:solidFill>
            <a:srgbClr val="4ECDC4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-8280" rIns="90000" bIns="-828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1" name="TextBox 23"/>
          <p:cNvSpPr/>
          <p:nvPr/>
        </p:nvSpPr>
        <p:spPr>
          <a:xfrm>
            <a:off x="685800" y="1508760"/>
            <a:ext cx="10788480" cy="2248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PC0 → Desktop → Command Prompt → zadaj:  ping 192.168.1.11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5CFF8A"/>
              </a:buClr>
              <a:buFont typeface="OpenSymbol"/>
              <a:buChar char="✓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Reply from 192.168.1.11 — 4× odpoveď = sieť funguje!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A500"/>
              </a:buClr>
              <a:buFont typeface="Wingdings 3" charset="2"/>
              <a:buChar char="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Skús tiež:  ping 192.168.1.1  (overenie spojenia na router)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601"/>
              </a:spcBef>
              <a:buClr>
                <a:srgbClr val="4ECDC4"/>
              </a:buClr>
              <a:buFont typeface="Symbol" charset="2"/>
              <a:buChar char="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Nefunguje? Postup: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Request timeout → skontroluj IP adresy a masky na oboch PC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Destination unreachable → skontroluj Gateway alebo kábel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685800" indent="-343080" defTabSz="457200">
              <a:lnSpc>
                <a:spcPct val="100000"/>
              </a:lnSpc>
              <a:spcBef>
                <a:spcPts val="201"/>
              </a:spcBef>
              <a:buClr>
                <a:srgbClr val="555555"/>
              </a:buClr>
              <a:buFont typeface="OpenSymbol"/>
              <a:buChar char="-"/>
            </a:pPr>
            <a:r>
              <a:rPr lang="en-US" sz="1300" b="0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Prvý ping môže zlyhať (ARP) — skús znova, druhý funguje</a:t>
            </a:r>
            <a:endParaRPr lang="de-DE" sz="13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700"/>
              </a:spcBef>
              <a:buClr>
                <a:srgbClr val="FF5C5C"/>
              </a:buClr>
              <a:buFont typeface="OpenSymbol"/>
              <a:buChar char="⚠"/>
            </a:pPr>
            <a:r>
              <a:rPr lang="en-US" sz="15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Stále nefunguje? Skontroluj PDU napájanie a no shutdown na routeri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2" name="Rectangle 14"/>
          <p:cNvSpPr/>
          <p:nvPr/>
        </p:nvSpPr>
        <p:spPr>
          <a:xfrm>
            <a:off x="457200" y="5760720"/>
            <a:ext cx="11273040" cy="775800"/>
          </a:xfrm>
          <a:prstGeom prst="rect">
            <a:avLst/>
          </a:prstGeom>
          <a:solidFill>
            <a:srgbClr val="332D00"/>
          </a:solidFill>
          <a:ln w="19050">
            <a:solidFill>
              <a:srgbClr val="FFD700"/>
            </a:solidFill>
            <a:round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endParaRPr lang="en-US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TextBox 24"/>
          <p:cNvSpPr/>
          <p:nvPr/>
        </p:nvSpPr>
        <p:spPr>
          <a:xfrm>
            <a:off x="685800" y="5852160"/>
            <a:ext cx="10788480" cy="59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600" b="1" u="none" strike="noStrike">
                <a:solidFill>
                  <a:srgbClr val="FFD700"/>
                </a:solidFill>
                <a:effectLst/>
                <a:uFillTx/>
                <a:latin typeface="Calibri"/>
              </a:rPr>
              <a:t>⏸  </a:t>
            </a:r>
            <a:r>
              <a:rPr lang="en-US" sz="1400" b="1" u="none" strike="noStrike">
                <a:solidFill>
                  <a:srgbClr val="FFE580"/>
                </a:solidFill>
                <a:effectLst/>
                <a:uFillTx/>
                <a:latin typeface="Calibri"/>
              </a:rPr>
              <a:t>Žiaci: Urobte ping 192.168.1.11 z PC0. Kto má 4× Reply? Zdvihnite ruku!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TextBox 1"/>
          <p:cNvSpPr/>
          <p:nvPr/>
        </p:nvSpPr>
        <p:spPr>
          <a:xfrm>
            <a:off x="685800" y="411480"/>
            <a:ext cx="3683520" cy="547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3000" b="1" u="none" strike="noStrike">
                <a:solidFill>
                  <a:srgbClr val="FFFFFF"/>
                </a:solidFill>
                <a:effectLst/>
                <a:uFillTx/>
                <a:latin typeface="Calibri"/>
              </a:rPr>
              <a:t>Ďakujem za pozornosť</a:t>
            </a:r>
            <a:endParaRPr lang="de-DE" sz="30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Box 2"/>
          <p:cNvSpPr/>
          <p:nvPr/>
        </p:nvSpPr>
        <p:spPr>
          <a:xfrm>
            <a:off x="685800" y="1371600"/>
            <a:ext cx="10788480" cy="36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n-US" sz="1500" b="1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Zdroje</a:t>
            </a:r>
            <a:endParaRPr lang="de-DE" sz="15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Box 3"/>
          <p:cNvSpPr/>
          <p:nvPr/>
        </p:nvSpPr>
        <p:spPr>
          <a:xfrm>
            <a:off x="685800" y="1874520"/>
            <a:ext cx="10788480" cy="411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343080" indent="-343080" defTabSz="457200">
              <a:lnSpc>
                <a:spcPct val="100000"/>
              </a:lnSpc>
              <a:spcBef>
                <a:spcPts val="499"/>
              </a:spcBef>
              <a:buClr>
                <a:srgbClr val="4A9ED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Cisco Packet Tracer — zabudovaná nápoveda (Help → Contents)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99"/>
              </a:spcBef>
              <a:buClr>
                <a:srgbClr val="4A9ED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https://www.netacad.com/cisco-packet-tracer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99"/>
              </a:spcBef>
              <a:buClr>
                <a:srgbClr val="4A9ED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https://www.netacad.com/courses/getting-started-cisco-packet-tracer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99"/>
              </a:spcBef>
              <a:buClr>
                <a:srgbClr val="4A9ED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https://www.cisco.com/c/en/us/td/docs/ios-xml/ios/fundamentals/configuration/15mt/fundamentals-15-mt-book/cf-cli-basics.html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99"/>
              </a:spcBef>
              <a:buClr>
                <a:srgbClr val="4A9ED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https://en.wikipedia.org/wiki/Network_topology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marL="343080" indent="-343080" defTabSz="457200">
              <a:lnSpc>
                <a:spcPct val="100000"/>
              </a:lnSpc>
              <a:spcBef>
                <a:spcPts val="499"/>
              </a:spcBef>
              <a:buClr>
                <a:srgbClr val="4A9EDB"/>
              </a:buClr>
              <a:buFont typeface="Symbol" charset="2"/>
              <a:buChar char=""/>
            </a:pPr>
            <a:r>
              <a:rPr lang="en-US" sz="1400" b="0" u="none" strike="noStrike">
                <a:solidFill>
                  <a:srgbClr val="C8C8C8"/>
                </a:solidFill>
                <a:effectLst/>
                <a:uFillTx/>
                <a:latin typeface="Calibri"/>
              </a:rPr>
              <a:t>https://www.geeksforgeeks.org/computer-networks/types-of-network-topology/</a:t>
            </a:r>
            <a:endParaRPr lang="de-DE" sz="14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</TotalTime>
  <Application>LibreOffice/26.2.4.2$Linux_X86_64 LibreOffice_project/0229ac93fcf0d7cbc6376066c6f35021cef002dc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de-DE</dc:language>
  <cp:lastModifiedBy/>
  <dcterms:modified xsi:type="dcterms:W3CDTF">2026-06-10T09:08:43Z</dcterms:modified>
  <cp:revision>8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